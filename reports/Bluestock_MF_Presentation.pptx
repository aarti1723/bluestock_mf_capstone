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17" r:id="rId5"/>
    <p:sldId id="307" r:id="rId6"/>
    <p:sldId id="308" r:id="rId7"/>
    <p:sldId id="278" r:id="rId8"/>
    <p:sldId id="309" r:id="rId9"/>
    <p:sldId id="263" r:id="rId10"/>
    <p:sldId id="310" r:id="rId11"/>
    <p:sldId id="311" r:id="rId12"/>
    <p:sldId id="312" r:id="rId13"/>
    <p:sldId id="316" r:id="rId14"/>
    <p:sldId id="314" r:id="rId15"/>
    <p:sldId id="30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849" autoAdjust="0"/>
  </p:normalViewPr>
  <p:slideViewPr>
    <p:cSldViewPr snapToGrid="0">
      <p:cViewPr varScale="1">
        <p:scale>
          <a:sx n="80" d="100"/>
          <a:sy n="80" d="100"/>
        </p:scale>
        <p:origin x="100" y="40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6/12/2026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IN" dirty="0" err="1"/>
              <a:t>Bluestock</a:t>
            </a:r>
            <a:r>
              <a:rPr lang="en-IN" dirty="0"/>
              <a:t> Mutual Fund Analytics Capstone Project</a:t>
            </a:r>
            <a:br>
              <a:rPr lang="en-IN" dirty="0"/>
            </a:br>
            <a:br>
              <a:rPr lang="en-IN" dirty="0"/>
            </a:br>
            <a:r>
              <a:rPr lang="en-IN" sz="3200" dirty="0"/>
              <a:t>Submitted By: Aarti Kumari</a:t>
            </a:r>
            <a:br>
              <a:rPr lang="en-IN" sz="3200" dirty="0"/>
            </a:br>
            <a:br>
              <a:rPr lang="en-IN" sz="3200" dirty="0"/>
            </a:br>
            <a:r>
              <a:rPr lang="en-IN" sz="3200" dirty="0" err="1"/>
              <a:t>Bluestock</a:t>
            </a:r>
            <a:r>
              <a:rPr lang="en-IN" sz="3200" dirty="0"/>
              <a:t> Fintech June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914400"/>
            <a:ext cx="5270500" cy="50292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accent6">
                    <a:lumMod val="10000"/>
                  </a:schemeClr>
                </a:solidFill>
              </a:rPr>
              <a:t>Problem Statement &amp; Objectives</a:t>
            </a:r>
            <a:endParaRPr 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0192736"/>
              </p:ext>
            </p:extLst>
          </p:nvPr>
        </p:nvGraphicFramePr>
        <p:xfrm>
          <a:off x="5640615" y="1206500"/>
          <a:ext cx="6233886" cy="6126480"/>
        </p:xfrm>
        <a:graphic>
          <a:graphicData uri="http://schemas.openxmlformats.org/drawingml/2006/table">
            <a:tbl>
              <a:tblPr firstRow="1" bandRow="1"/>
              <a:tblGrid>
                <a:gridCol w="6233886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15528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+mj-lt"/>
                        </a:rPr>
                        <a:t>Problem Statement: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</a:rPr>
                        <a:t>Investors and analysts need a centralized platform to analyze mutual fund performance, risk, investor </a:t>
                      </a:r>
                      <a:r>
                        <a:rPr lang="en-US" sz="2000" b="0" dirty="0" err="1">
                          <a:latin typeface="+mj-lt"/>
                        </a:rPr>
                        <a:t>behaviour</a:t>
                      </a:r>
                      <a:r>
                        <a:rPr lang="en-US" sz="2000" b="0" dirty="0">
                          <a:latin typeface="+mj-lt"/>
                        </a:rPr>
                        <a:t>, and market trends.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latin typeface="+mj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+mj-lt"/>
                        </a:rPr>
                        <a:t>Objectives:</a:t>
                      </a:r>
                      <a:endParaRPr lang="en-US" sz="2400" b="0" dirty="0">
                        <a:latin typeface="+mj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j-lt"/>
                        </a:rPr>
                        <a:t>• </a:t>
                      </a:r>
                      <a:r>
                        <a:rPr lang="en-US" sz="2000" b="0" dirty="0">
                          <a:latin typeface="+mj-lt"/>
                        </a:rPr>
                        <a:t>Build ETL Pipeline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</a:rPr>
                        <a:t>• Create SQLite Database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</a:rPr>
                        <a:t>• Perform EDA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</a:rPr>
                        <a:t>• Compute Performance Metrics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</a:rPr>
                        <a:t>• Develop Power BI Dashboard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</a:rPr>
                        <a:t>• Perform Advanced Analytics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</a:rPr>
                        <a:t>• Generate Insights and Recommendations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362993">
                <a:tc>
                  <a:txBody>
                    <a:bodyPr/>
                    <a:lstStyle/>
                    <a:p>
                      <a:pPr algn="r"/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362993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5641848" cy="5029200"/>
          </a:xfrm>
        </p:spPr>
        <p:txBody>
          <a:bodyPr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IN" dirty="0"/>
              <a:t>Data Sources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711D00-48EC-EB39-77AA-4154286F0D2A}"/>
              </a:ext>
            </a:extLst>
          </p:cNvPr>
          <p:cNvSpPr txBox="1"/>
          <p:nvPr/>
        </p:nvSpPr>
        <p:spPr>
          <a:xfrm>
            <a:off x="8223250" y="511086"/>
            <a:ext cx="357505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Data Sources:</a:t>
            </a:r>
          </a:p>
          <a:p>
            <a:r>
              <a:rPr lang="en-IN" sz="2400" dirty="0"/>
              <a:t>• Fund Master Data</a:t>
            </a:r>
          </a:p>
          <a:p>
            <a:r>
              <a:rPr lang="en-IN" sz="2400" dirty="0"/>
              <a:t>• NAV History Data</a:t>
            </a:r>
          </a:p>
          <a:p>
            <a:r>
              <a:rPr lang="en-IN" sz="2400" dirty="0"/>
              <a:t>• AUM Data</a:t>
            </a:r>
          </a:p>
          <a:p>
            <a:r>
              <a:rPr lang="en-IN" sz="2400" dirty="0"/>
              <a:t>• SIP Inflow Data</a:t>
            </a:r>
          </a:p>
          <a:p>
            <a:r>
              <a:rPr lang="en-IN" sz="2400" dirty="0"/>
              <a:t>• Category Inflows</a:t>
            </a:r>
          </a:p>
          <a:p>
            <a:r>
              <a:rPr lang="en-IN" sz="2400" dirty="0"/>
              <a:t>• Folio Count Data</a:t>
            </a:r>
          </a:p>
          <a:p>
            <a:r>
              <a:rPr lang="en-IN" sz="2400" dirty="0"/>
              <a:t>• Scheme Performance Data</a:t>
            </a:r>
          </a:p>
          <a:p>
            <a:r>
              <a:rPr lang="en-IN" sz="2400" dirty="0"/>
              <a:t>• Investor Transactions</a:t>
            </a:r>
          </a:p>
          <a:p>
            <a:r>
              <a:rPr lang="en-IN" sz="2400" dirty="0"/>
              <a:t>• Portfolio Holdings</a:t>
            </a:r>
          </a:p>
          <a:p>
            <a:r>
              <a:rPr lang="en-IN" sz="2400" dirty="0"/>
              <a:t>• Benchmark Indices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2176" y="1016000"/>
            <a:ext cx="5449824" cy="3538728"/>
          </a:xfrm>
        </p:spPr>
        <p:txBody>
          <a:bodyPr anchor="b"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IN" dirty="0"/>
              <a:t>System Architecture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00EBDF4-3413-FCF9-2E25-9A254A61F23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46176" y="660400"/>
            <a:ext cx="5449824" cy="5308600"/>
          </a:xfrm>
        </p:spPr>
        <p:txBody>
          <a:bodyPr/>
          <a:lstStyle/>
          <a:p>
            <a:r>
              <a:rPr lang="en-IN" dirty="0"/>
              <a:t>Raw Data</a:t>
            </a:r>
            <a:br>
              <a:rPr lang="en-IN" dirty="0"/>
            </a:br>
            <a:r>
              <a:rPr lang="en-IN" dirty="0"/>
              <a:t>      ↓</a:t>
            </a:r>
            <a:br>
              <a:rPr lang="en-IN" dirty="0"/>
            </a:br>
            <a:r>
              <a:rPr lang="en-IN" dirty="0"/>
              <a:t>Data Cleaning</a:t>
            </a:r>
            <a:br>
              <a:rPr lang="en-IN" dirty="0"/>
            </a:br>
            <a:r>
              <a:rPr lang="en-IN" dirty="0"/>
              <a:t>      ↓</a:t>
            </a:r>
            <a:br>
              <a:rPr lang="en-IN" dirty="0"/>
            </a:br>
            <a:r>
              <a:rPr lang="en-IN" dirty="0"/>
              <a:t>SQLite Database</a:t>
            </a:r>
            <a:br>
              <a:rPr lang="en-IN" dirty="0"/>
            </a:br>
            <a:r>
              <a:rPr lang="en-IN" dirty="0"/>
              <a:t>      ↓</a:t>
            </a:r>
            <a:br>
              <a:rPr lang="en-IN" dirty="0"/>
            </a:br>
            <a:r>
              <a:rPr lang="en-IN" dirty="0"/>
              <a:t>SQL Analysis</a:t>
            </a:r>
            <a:br>
              <a:rPr lang="en-IN" dirty="0"/>
            </a:br>
            <a:r>
              <a:rPr lang="en-IN" dirty="0"/>
              <a:t>      ↓</a:t>
            </a:r>
            <a:br>
              <a:rPr lang="en-IN" dirty="0"/>
            </a:br>
            <a:r>
              <a:rPr lang="en-IN" dirty="0"/>
              <a:t>    EDA</a:t>
            </a:r>
            <a:br>
              <a:rPr lang="en-IN" dirty="0"/>
            </a:br>
            <a:r>
              <a:rPr lang="en-IN" dirty="0"/>
              <a:t>      ↓</a:t>
            </a:r>
            <a:br>
              <a:rPr lang="en-IN" dirty="0"/>
            </a:br>
            <a:r>
              <a:rPr lang="en-IN" dirty="0"/>
              <a:t>Performance Analytics</a:t>
            </a:r>
            <a:br>
              <a:rPr lang="en-IN" dirty="0"/>
            </a:br>
            <a:r>
              <a:rPr lang="en-IN" dirty="0"/>
              <a:t>      ↓</a:t>
            </a:r>
            <a:br>
              <a:rPr lang="en-IN" dirty="0"/>
            </a:br>
            <a:r>
              <a:rPr lang="en-IN" dirty="0"/>
              <a:t>Power BI Dashboard</a:t>
            </a:r>
            <a:br>
              <a:rPr lang="en-IN" dirty="0"/>
            </a:br>
            <a:r>
              <a:rPr lang="en-IN" dirty="0"/>
              <a:t>      ↓</a:t>
            </a:r>
            <a:br>
              <a:rPr lang="en-IN" dirty="0"/>
            </a:br>
            <a:r>
              <a:rPr lang="en-IN" dirty="0"/>
              <a:t>Advanced Analytics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>
            <a:normAutofit/>
          </a:bodyPr>
          <a:lstStyle/>
          <a:p>
            <a:r>
              <a:rPr lang="en-IN" dirty="0"/>
              <a:t>EDA Highlights (1):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5F3C8F5-5417-784F-C8A2-2E5E2B7B6D1D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/>
          <a:srcRect l="9700" r="31273" b="-1"/>
          <a:stretch>
            <a:fillRect/>
          </a:stretch>
        </p:blipFill>
        <p:spPr>
          <a:xfrm>
            <a:off x="644894" y="2039112"/>
            <a:ext cx="4846460" cy="3877055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F578B4-0B60-E9F5-D8F4-B1F24F63E8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01" r="8991" b="-1"/>
          <a:stretch>
            <a:fillRect/>
          </a:stretch>
        </p:blipFill>
        <p:spPr>
          <a:xfrm>
            <a:off x="6237171" y="2039112"/>
            <a:ext cx="5234208" cy="3877055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C6E3A5-D114-7CD1-ED5E-B025A78C6051}"/>
              </a:ext>
            </a:extLst>
          </p:cNvPr>
          <p:cNvSpPr txBox="1"/>
          <p:nvPr/>
        </p:nvSpPr>
        <p:spPr>
          <a:xfrm>
            <a:off x="1056373" y="5943600"/>
            <a:ext cx="4083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Industry AUM showed continuous growth.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927962-A69F-8381-5FB9-16A44E1267B6}"/>
              </a:ext>
            </a:extLst>
          </p:cNvPr>
          <p:cNvSpPr txBox="1"/>
          <p:nvPr/>
        </p:nvSpPr>
        <p:spPr>
          <a:xfrm>
            <a:off x="6237171" y="5958421"/>
            <a:ext cx="5234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NAV trends indicate long-term wealth creation potential</a:t>
            </a:r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55" y="471637"/>
            <a:ext cx="4677878" cy="981777"/>
          </a:xfrm>
        </p:spPr>
        <p:txBody>
          <a:bodyPr anchor="b"/>
          <a:lstStyle/>
          <a:p>
            <a:r>
              <a:rPr lang="en-IN" sz="3200" dirty="0"/>
              <a:t>EDA Highlights (2):</a:t>
            </a:r>
            <a:endParaRPr lang="en-US" sz="32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3255" y="6197452"/>
            <a:ext cx="5890103" cy="377822"/>
          </a:xfrm>
        </p:spPr>
        <p:txBody>
          <a:bodyPr>
            <a:normAutofit/>
          </a:bodyPr>
          <a:lstStyle/>
          <a:p>
            <a:r>
              <a:rPr lang="en-IN" sz="1800" dirty="0"/>
              <a:t>SIP participation increased steadily</a:t>
            </a: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EE9E54-93D8-D26A-336F-A0130505A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02" y="1508730"/>
            <a:ext cx="5704584" cy="46105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617217-6273-3C2C-511A-F7C7ABDCBA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508730"/>
            <a:ext cx="5561798" cy="46105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A182E2-A12F-8282-8B18-9FB2208B59CC}"/>
              </a:ext>
            </a:extLst>
          </p:cNvPr>
          <p:cNvSpPr txBox="1"/>
          <p:nvPr/>
        </p:nvSpPr>
        <p:spPr>
          <a:xfrm>
            <a:off x="6530172" y="611923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Strong relationships observed among financial variables</a:t>
            </a: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Analytics: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2523263"/>
          </a:xfrm>
        </p:spPr>
        <p:txBody>
          <a:bodyPr/>
          <a:lstStyle/>
          <a:p>
            <a:r>
              <a:rPr lang="en-IN" b="1" u="sng" dirty="0"/>
              <a:t>Metrics Calculated 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• CAGR</a:t>
            </a:r>
            <a:br>
              <a:rPr lang="en-IN" dirty="0"/>
            </a:br>
            <a:r>
              <a:rPr lang="en-IN" dirty="0"/>
              <a:t>• Sharpe Ratio</a:t>
            </a:r>
            <a:br>
              <a:rPr lang="en-IN" dirty="0"/>
            </a:br>
            <a:r>
              <a:rPr lang="en-IN" dirty="0"/>
              <a:t>• Sortino Ratio</a:t>
            </a:r>
            <a:br>
              <a:rPr lang="en-IN" dirty="0"/>
            </a:br>
            <a:r>
              <a:rPr lang="en-IN" dirty="0"/>
              <a:t>• Alpha</a:t>
            </a:r>
            <a:br>
              <a:rPr lang="en-IN" dirty="0"/>
            </a:br>
            <a:r>
              <a:rPr lang="en-IN" dirty="0"/>
              <a:t>• Beta</a:t>
            </a:r>
            <a:br>
              <a:rPr lang="en-IN" dirty="0"/>
            </a:br>
            <a:r>
              <a:rPr lang="en-IN" dirty="0"/>
              <a:t>• Maximum Drawdown</a:t>
            </a:r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F3CEF66-C6D7-C765-24E7-1DCFB38FE51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01028" y="4562375"/>
            <a:ext cx="4967038" cy="1589612"/>
          </a:xfrm>
        </p:spPr>
        <p:txBody>
          <a:bodyPr>
            <a:normAutofit/>
          </a:bodyPr>
          <a:lstStyle/>
          <a:p>
            <a:r>
              <a:rPr lang="en-IN" u="sng" dirty="0"/>
              <a:t>Outcome</a:t>
            </a:r>
            <a:r>
              <a:rPr lang="en-IN" dirty="0"/>
              <a:t>:</a:t>
            </a:r>
            <a:br>
              <a:rPr lang="en-IN" dirty="0"/>
            </a:br>
            <a:r>
              <a:rPr lang="en-IN" dirty="0"/>
              <a:t>Risk-adjusted evaluation of mutual funds.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383" y="-86627"/>
            <a:ext cx="10360152" cy="914400"/>
          </a:xfrm>
        </p:spPr>
        <p:txBody>
          <a:bodyPr/>
          <a:lstStyle/>
          <a:p>
            <a:r>
              <a:rPr lang="en-IN" b="1" dirty="0"/>
              <a:t>Advanced Analytics :</a:t>
            </a:r>
            <a:endParaRPr lang="en-US" b="1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6F2BA06-39BD-0413-D150-70F75EA6CC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8383" y="903331"/>
            <a:ext cx="3364992" cy="390448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dirty="0"/>
              <a:t>Advanced Analytics;</a:t>
            </a:r>
            <a:endParaRPr lang="en-US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7798761A-B671-4825-623F-F4726F2BDF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32156" y="1270640"/>
            <a:ext cx="2897446" cy="2158360"/>
          </a:xfrm>
        </p:spPr>
        <p:txBody>
          <a:bodyPr/>
          <a:lstStyle/>
          <a:p>
            <a:r>
              <a:rPr lang="en-IN" dirty="0"/>
              <a:t>• </a:t>
            </a:r>
            <a:r>
              <a:rPr lang="en-IN" dirty="0" err="1"/>
              <a:t>VaR</a:t>
            </a:r>
            <a:br>
              <a:rPr lang="en-IN" dirty="0"/>
            </a:br>
            <a:r>
              <a:rPr lang="en-IN" dirty="0"/>
              <a:t>• CVaR</a:t>
            </a:r>
            <a:br>
              <a:rPr lang="en-IN" dirty="0"/>
            </a:br>
            <a:r>
              <a:rPr lang="en-IN" dirty="0"/>
              <a:t>• Rolling Sharpe</a:t>
            </a:r>
            <a:br>
              <a:rPr lang="en-IN" dirty="0"/>
            </a:br>
            <a:r>
              <a:rPr lang="en-IN" dirty="0"/>
              <a:t>• Cohort Analysis</a:t>
            </a:r>
            <a:br>
              <a:rPr lang="en-IN" dirty="0"/>
            </a:br>
            <a:r>
              <a:rPr lang="en-IN" dirty="0"/>
              <a:t>• SIP Continuity Analysis</a:t>
            </a:r>
            <a:br>
              <a:rPr lang="en-IN" dirty="0"/>
            </a:br>
            <a:r>
              <a:rPr lang="en-IN" dirty="0"/>
              <a:t>• HHI Analysis</a:t>
            </a:r>
            <a:br>
              <a:rPr lang="en-IN" dirty="0"/>
            </a:br>
            <a:r>
              <a:rPr lang="en-IN" dirty="0"/>
              <a:t>• Fund Recommender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0553D1-488E-C116-205A-64CD44845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680" y="827773"/>
            <a:ext cx="7750901" cy="514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A0564581-FA43-654F-9462-92E26F136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>
            <a:normAutofit/>
          </a:bodyPr>
          <a:lstStyle/>
          <a:p>
            <a:r>
              <a:rPr lang="en-US" dirty="0"/>
              <a:t>Dashboard :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FBDE234-71D5-00CF-6811-CA926D4C47A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rcRect l="1618" r="13493" b="1"/>
          <a:stretch>
            <a:fillRect/>
          </a:stretch>
        </p:blipFill>
        <p:spPr>
          <a:xfrm>
            <a:off x="914399" y="2039112"/>
            <a:ext cx="3465096" cy="3904488"/>
          </a:xfrm>
          <a:prstGeom prst="rect">
            <a:avLst/>
          </a:prstGeom>
          <a:noFill/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35DA029-CF8D-3028-7F68-72A2311971FE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4"/>
          <a:srcRect l="847" r="2871"/>
          <a:stretch>
            <a:fillRect/>
          </a:stretch>
        </p:blipFill>
        <p:spPr>
          <a:xfrm>
            <a:off x="4743451" y="2039112"/>
            <a:ext cx="6537960" cy="3904488"/>
          </a:xfrm>
          <a:prstGeom prst="rect">
            <a:avLst/>
          </a:prstGeom>
          <a:noFill/>
        </p:spPr>
      </p:pic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74F51380-E914-E37D-4AC5-5768065A9C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6E3FD31-D19A-BFEB-821F-C0010383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5CD1655-CD67-C5EE-711D-84DBD52B8E7E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401054" y="2184935"/>
            <a:ext cx="5547360" cy="3694869"/>
          </a:xfrm>
          <a:prstGeom prst="rect">
            <a:avLst/>
          </a:prstGeom>
        </p:spPr>
      </p:pic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D3F53A55-1F2B-EB7F-3E43-C43170D7798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794990715"/>
              </p:ext>
            </p:extLst>
          </p:nvPr>
        </p:nvGraphicFramePr>
        <p:xfrm>
          <a:off x="7071544" y="2461861"/>
          <a:ext cx="4719403" cy="2832952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566765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1365274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893682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  <a:gridCol w="893682">
                  <a:extLst>
                    <a:ext uri="{9D8B030D-6E8A-4147-A177-3AD203B41FA5}">
                      <a16:colId xmlns:a16="http://schemas.microsoft.com/office/drawing/2014/main" val="1603189107"/>
                    </a:ext>
                  </a:extLst>
                </a:gridCol>
              </a:tblGrid>
              <a:tr h="291599"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829611"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164817"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291599"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  <a:tr h="291599"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194648"/>
                  </a:ext>
                </a:extLst>
              </a:tr>
              <a:tr h="418381"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50325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F8E7B3-C754-07E2-C819-07B70760C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794" y="1828800"/>
            <a:ext cx="5845422" cy="425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33A77B-664F-FFD3-D61A-0D344C269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 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B0F3C-5228-C9FB-1212-1D4894C80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• AUM growth remained strong.</a:t>
            </a:r>
          </a:p>
          <a:p>
            <a:pPr marL="0" indent="0">
              <a:buNone/>
            </a:pPr>
            <a:r>
              <a:rPr lang="en-US" dirty="0"/>
              <a:t>• SIP inflows increased consistently.</a:t>
            </a:r>
          </a:p>
          <a:p>
            <a:pPr marL="0" indent="0">
              <a:buNone/>
            </a:pPr>
            <a:r>
              <a:rPr lang="en-US" dirty="0"/>
              <a:t>• Top Sharpe Ratio funds delivered better risk-adjusted returns.</a:t>
            </a:r>
          </a:p>
          <a:p>
            <a:pPr marL="0" indent="0">
              <a:buNone/>
            </a:pPr>
            <a:r>
              <a:rPr lang="en-US" dirty="0"/>
              <a:t>• Investor participation continues to rise.</a:t>
            </a:r>
          </a:p>
          <a:p>
            <a:pPr marL="0" indent="0">
              <a:buNone/>
            </a:pPr>
            <a:r>
              <a:rPr lang="en-US" dirty="0"/>
              <a:t>• Most SIP investors maintain continuity.</a:t>
            </a:r>
          </a:p>
          <a:p>
            <a:pPr marL="0" indent="0">
              <a:buNone/>
            </a:pPr>
            <a:r>
              <a:rPr lang="en-US" dirty="0"/>
              <a:t>• Portfolio concentration varies significantly across funds.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A9EE9E-3073-7E11-3AA5-F77C3B48A97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/>
          <a:lstStyle/>
          <a:p>
            <a:r>
              <a:rPr lang="en-IN" dirty="0"/>
              <a:t>Questions &amp; Discussion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Aarti Kumari</a:t>
            </a:r>
          </a:p>
          <a:p>
            <a:br>
              <a:rPr lang="en-IN" dirty="0"/>
            </a:br>
            <a:r>
              <a:rPr lang="en-IN" dirty="0" err="1"/>
              <a:t>Bluestock</a:t>
            </a:r>
            <a:r>
              <a:rPr lang="en-IN" dirty="0"/>
              <a:t> Mutual Fund Analytics Capstone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{33470F6A-C2EC-4247-8007-8A19D3AFC272}TF1ed9553b-00c4-4092-846a-c8f7f2908f3beecd942f_win32-8e33096c3cfc</Template>
  <TotalTime>42</TotalTime>
  <Words>352</Words>
  <Application>Microsoft Office PowerPoint</Application>
  <PresentationFormat>Widescreen</PresentationFormat>
  <Paragraphs>68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Courier New</vt:lpstr>
      <vt:lpstr>Gill Sans Nova Light</vt:lpstr>
      <vt:lpstr>Sagona Book</vt:lpstr>
      <vt:lpstr>Wingdings</vt:lpstr>
      <vt:lpstr>Custom</vt:lpstr>
      <vt:lpstr>Bluestock Mutual Fund Analytics Capstone Project  Submitted By: Aarti Kumari  Bluestock Fintech June 2026</vt:lpstr>
      <vt:lpstr>Problem Statement &amp; Objectives</vt:lpstr>
      <vt:lpstr>Data Sources</vt:lpstr>
      <vt:lpstr>System Architecture</vt:lpstr>
      <vt:lpstr>EDA Highlights (1):</vt:lpstr>
      <vt:lpstr>EDA Highlights (2):</vt:lpstr>
      <vt:lpstr>Performance Analytics:</vt:lpstr>
      <vt:lpstr>Advanced Analytics :</vt:lpstr>
      <vt:lpstr>Dashboard :</vt:lpstr>
      <vt:lpstr>Dashboard :</vt:lpstr>
      <vt:lpstr>Key Findings 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Aarti Kumari</dc:creator>
  <cp:lastModifiedBy>Aarti Kumari</cp:lastModifiedBy>
  <cp:revision>2</cp:revision>
  <dcterms:created xsi:type="dcterms:W3CDTF">2026-06-12T14:50:42Z</dcterms:created>
  <dcterms:modified xsi:type="dcterms:W3CDTF">2026-06-12T15:39:04Z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